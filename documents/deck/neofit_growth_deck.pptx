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Biaya Bulanan (Rp juta)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41B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A37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Tim Manual (Creator + Editor)</c:v>
                  </c:pt>
                  <c:pt idx="1">
                    <c:v>Konten AI Otomatis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41B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1B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99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6E7990"/>
                    </a:solidFill>
                    <a:latin typeface="Calibri"/>
                  </a:rPr>
                  <a:t>Rp juta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99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1828800"/>
            <a:ext cx="5943600" cy="59436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97135" y="3657600"/>
            <a:ext cx="3657600" cy="3657600"/>
          </a:xfrm>
          <a:prstGeom prst="ellipse">
            <a:avLst/>
          </a:prstGeom>
          <a:solidFill>
            <a:srgbClr val="10A37F">
              <a:alpha val="12000"/>
            </a:srgbClr>
          </a:solidFill>
          <a:ln w="12700">
            <a:solidFill>
              <a:srgbClr val="10A37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43055" y="2286000"/>
            <a:ext cx="548640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pic>
        <p:nvPicPr>
          <p:cNvPr id="6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COMPANY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246888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Pertumbuhan Digital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Neofit Webapp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548640" y="4069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pilar AI untuk mengubah gym Anda dari operasional manual menjadi mesin pertumbuhan otomatis.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5120640"/>
            <a:ext cx="548640" cy="7315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5349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DISIAPKAN UNTUK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5623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Neofit Webapp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448495" y="5349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448495" y="5623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Mei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80015" y="-914400"/>
            <a:ext cx="3200400" cy="3200400"/>
          </a:xfrm>
          <a:prstGeom prst="ellipse">
            <a:avLst/>
          </a:prstGeom>
          <a:solidFill>
            <a:srgbClr val="10A37F">
              <a:alpha val="8000"/>
            </a:srgbClr>
          </a:solidFill>
          <a:ln w="12700">
            <a:solidFill>
              <a:srgbClr val="10A37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11535" y="-274320"/>
            <a:ext cx="1828800" cy="1828800"/>
          </a:xfrm>
          <a:prstGeom prst="ellipse">
            <a:avLst/>
          </a:prstGeom>
          <a:solidFill>
            <a:srgbClr val="10A37F">
              <a:alpha val="20000"/>
            </a:srgbClr>
          </a:solidFill>
          <a:ln w="12700">
            <a:solidFill>
              <a:srgbClr val="10A37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09441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modern menang bukan karena lebih murah —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melainkan karena lebih cerdas.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640080" cy="6400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66344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hal yang menghambat pertumbuhan Neofit saat ini: keputusan tanpa data, biaya konten yang terus naik, dan kehadiran digital yang belum dioptimasi untuk Google. Tiga-tiganya bisa diselesaikan dengan stack AI yang tepat.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9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Pilar Transformasi Neofit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pilar berdiri sendiri, tetapi paling kuat ketika dijalankan berurutan.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91029" y="2743200"/>
            <a:ext cx="7609637" cy="0"/>
          </a:xfrm>
          <a:prstGeom prst="line">
            <a:avLst/>
          </a:prstGeom>
          <a:noFill/>
          <a:ln w="19050">
            <a:solidFill>
              <a:srgbClr val="E2E6E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2743200"/>
            <a:ext cx="348477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43200"/>
            <a:ext cx="91440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69821" y="2221992"/>
            <a:ext cx="1042416" cy="1042416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9549" y="233172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9549" y="23500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27532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ITU PENTING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16709" y="4343400"/>
            <a:ext cx="5486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480560"/>
            <a:ext cx="275325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 real-time. Pendapatan, tier member, kelas, trainer, promo — semua dalam satu layar untuk keputusan berbasis angka.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53458" y="2743200"/>
            <a:ext cx="348477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3458" y="2743200"/>
            <a:ext cx="91440" cy="320040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4640" y="2221992"/>
            <a:ext cx="1042416" cy="1042416"/>
          </a:xfrm>
          <a:prstGeom prst="ellipse">
            <a:avLst/>
          </a:prstGeom>
          <a:solidFill>
            <a:srgbClr val="10A37F">
              <a:alpha val="20000"/>
            </a:srgbClr>
          </a:solidFill>
          <a:ln w="12700">
            <a:solidFill>
              <a:srgbClr val="10A37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84368" y="2331720"/>
            <a:ext cx="822960" cy="822960"/>
          </a:xfrm>
          <a:prstGeom prst="ellipse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4368" y="23500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19218" y="3520440"/>
            <a:ext cx="27532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Ganti Sosmed dengan AI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821528" y="4343400"/>
            <a:ext cx="548640" cy="0"/>
          </a:xfrm>
          <a:prstGeom prst="line">
            <a:avLst/>
          </a:prstGeom>
          <a:noFill/>
          <a:ln w="19050">
            <a:solidFill>
              <a:srgbClr val="10A3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9218" y="4480560"/>
            <a:ext cx="275325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otomatis multi-platform dengan video AI. Satu prompt → 3 variasi video → 5 platform terjadwal otomatis.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58277" y="2743200"/>
            <a:ext cx="348477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8277" y="2743200"/>
            <a:ext cx="91440" cy="3200400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79458" y="2221992"/>
            <a:ext cx="1042416" cy="1042416"/>
          </a:xfrm>
          <a:prstGeom prst="ellipse">
            <a:avLst/>
          </a:prstGeom>
          <a:solidFill>
            <a:srgbClr val="23304A">
              <a:alpha val="20000"/>
            </a:srgbClr>
          </a:solidFill>
          <a:ln w="12700">
            <a:solidFill>
              <a:srgbClr val="23304A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9186" y="2331720"/>
            <a:ext cx="822960" cy="822960"/>
          </a:xfrm>
          <a:prstGeom prst="ellipse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89186" y="23500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524037" y="3520440"/>
            <a:ext cx="27532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= SEO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26346" y="4343400"/>
            <a:ext cx="548640" cy="0"/>
          </a:xfrm>
          <a:prstGeom prst="line">
            <a:avLst/>
          </a:prstGeom>
          <a:noFill/>
          <a:ln w="19050">
            <a:solidFill>
              <a:srgbClr val="2330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24037" y="4480560"/>
            <a:ext cx="275325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publik dioptimasi Google. Setiap pencarian "gym Bandung" berpotensi jadi lead — 24 jam, tanpa biaya iklan.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0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411480" cy="4114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457200"/>
            <a:ext cx="50292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8000" b="1" dirty="0">
                <a:solidFill>
                  <a:srgbClr val="2563EB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0" dirty="0"/>
          </a:p>
        </p:txBody>
      </p:sp>
      <p:sp>
        <p:nvSpPr>
          <p:cNvPr id="3" name="Shape 1"/>
          <p:cNvSpPr/>
          <p:nvPr/>
        </p:nvSpPr>
        <p:spPr>
          <a:xfrm>
            <a:off x="10180015" y="-914400"/>
            <a:ext cx="3200400" cy="3200400"/>
          </a:xfrm>
          <a:prstGeom prst="ellipse">
            <a:avLst/>
          </a:prstGeom>
          <a:solidFill>
            <a:srgbClr val="10A37F">
              <a:alpha val="8000"/>
            </a:srgbClr>
          </a:solidFill>
          <a:ln w="12700">
            <a:solidFill>
              <a:srgbClr val="10A37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11535" y="-274320"/>
            <a:ext cx="1828800" cy="1828800"/>
          </a:xfrm>
          <a:prstGeom prst="ellipse">
            <a:avLst/>
          </a:prstGeom>
          <a:solidFill>
            <a:srgbClr val="10A37F">
              <a:alpha val="20000"/>
            </a:srgbClr>
          </a:solidFill>
          <a:ln w="12700">
            <a:solidFill>
              <a:srgbClr val="10A37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01 ·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109441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ITU PENTING.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dashboard, semua keputusan adalah tebakan.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640080" cy="6400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6344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mana yang paling untung? Trainer mana yang menahan member? Kelas mana yang sepi? Promo mana yang menghasilkan? Tanpa data terstruktur, jawabannya hanya feeling.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DASHBOARD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pertanyaan yang tidak bisa Anda jawab hari ini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pertanyaan ini sebenarnya pertanyaan bisnis senilai puluhan juta — tapi tanpa data terstruktur, jawabannya hanya intuisi.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567864" cy="2743200"/>
          </a:xfrm>
          <a:prstGeom prst="rect">
            <a:avLst/>
          </a:prstGeom>
          <a:solidFill>
            <a:srgbClr val="F5F7FB"/>
          </a:solidFill>
          <a:ln w="6350">
            <a:solidFill>
              <a:srgbClr val="E2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834640"/>
            <a:ext cx="2567864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54680"/>
            <a:ext cx="22021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21106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membership mana yang paling menguntungkan?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983480"/>
            <a:ext cx="21106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terlihat tanpa grafik komposisi.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90824" y="2834640"/>
            <a:ext cx="2567864" cy="2743200"/>
          </a:xfrm>
          <a:prstGeom prst="rect">
            <a:avLst/>
          </a:prstGeom>
          <a:solidFill>
            <a:srgbClr val="F5F7FB"/>
          </a:solidFill>
          <a:ln w="6350">
            <a:solidFill>
              <a:srgbClr val="E2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0824" y="2834640"/>
            <a:ext cx="2567864" cy="10972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3704" y="3154680"/>
            <a:ext cx="22021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619424" y="4343400"/>
            <a:ext cx="21106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mana yang menahan member paling lama?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9424" y="4983480"/>
            <a:ext cx="21106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terukur tanpa CRUD trainer + analytics.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33008" y="2834640"/>
            <a:ext cx="2567864" cy="2743200"/>
          </a:xfrm>
          <a:prstGeom prst="rect">
            <a:avLst/>
          </a:prstGeom>
          <a:solidFill>
            <a:srgbClr val="F5F7FB"/>
          </a:solidFill>
          <a:ln w="6350">
            <a:solidFill>
              <a:srgbClr val="E2E6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3008" y="2834640"/>
            <a:ext cx="2567864" cy="109728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5888" y="3154680"/>
            <a:ext cx="22021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461608" y="4343400"/>
            <a:ext cx="21106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mana yang sepi &amp; merugi?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61608" y="4983480"/>
            <a:ext cx="21106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terlacak tanpa laporan attendance.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75191" y="2834640"/>
            <a:ext cx="2567864" cy="2743200"/>
          </a:xfrm>
          <a:prstGeom prst="rect">
            <a:avLst/>
          </a:prstGeom>
          <a:solidFill>
            <a:srgbClr val="F5F7FB"/>
          </a:solidFill>
          <a:ln w="6350">
            <a:solidFill>
              <a:srgbClr val="E2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75191" y="2834640"/>
            <a:ext cx="2567864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58071" y="3154680"/>
            <a:ext cx="22021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9303791" y="4343400"/>
            <a:ext cx="21106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mana yang benar-benar menghasilkan?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03791" y="4983480"/>
            <a:ext cx="21106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terjawab tanpa tracking konversi kampanye.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mengubah empat tanda tanya di atas menjadi empat grafik yang bisa di-screenshot dan diputuskan dalam 5 menit.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7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411480" cy="4114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64592" cy="67848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914400"/>
            <a:ext cx="3200400" cy="3200400"/>
          </a:xfrm>
          <a:prstGeom prst="ellipse">
            <a:avLst/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11535" y="-274320"/>
            <a:ext cx="1828800" cy="18288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01 · MOD-ADMIN-001 · FIXED PRICE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(CMS)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dashboard untuk semua keputusan operasional Neofit.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6400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6858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 real-time: pendapatan harian, mingguan, bulanan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donat tier membership — lihat komposisi member dalam sekejap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penuh: Kelas, Trainer, Member, Pendapatan, Promo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pendapatan otomatis dengan export CSV/PDF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kampanye promo dengan tracking konversi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gelap &amp; terang, akses peran admin/staff terpisah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18120" y="3108960"/>
            <a:ext cx="3824935" cy="2560320"/>
          </a:xfrm>
          <a:prstGeom prst="rect">
            <a:avLst/>
          </a:prstGeom>
          <a:solidFill>
            <a:srgbClr val="141B2E"/>
          </a:solidFill>
          <a:ln w="12700">
            <a:solidFill>
              <a:srgbClr val="141B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3108960"/>
            <a:ext cx="382493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3383280"/>
            <a:ext cx="3184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C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INVESTASI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38160" y="3794760"/>
            <a:ext cx="3184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Pembangunan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38160" y="4069080"/>
            <a:ext cx="3184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35.000.000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38160" y="4617720"/>
            <a:ext cx="3184855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4754880"/>
            <a:ext cx="3184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/ Bulan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0" y="5029200"/>
            <a:ext cx="3184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2.500.000 / bln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Termasuk hosting, bug fix, dan minor update selama maintenance aktif.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0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411480" cy="4114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457200"/>
            <a:ext cx="50292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8000" b="1" dirty="0">
                <a:solidFill>
                  <a:srgbClr val="2563EB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0" dirty="0"/>
          </a:p>
        </p:txBody>
      </p:sp>
      <p:sp>
        <p:nvSpPr>
          <p:cNvPr id="3" name="Shape 1"/>
          <p:cNvSpPr/>
          <p:nvPr/>
        </p:nvSpPr>
        <p:spPr>
          <a:xfrm>
            <a:off x="10180015" y="-914400"/>
            <a:ext cx="3200400" cy="3200400"/>
          </a:xfrm>
          <a:prstGeom prst="ellipse">
            <a:avLst/>
          </a:prstGeom>
          <a:solidFill>
            <a:srgbClr val="10A37F">
              <a:alpha val="8000"/>
            </a:srgbClr>
          </a:solidFill>
          <a:ln w="12700">
            <a:solidFill>
              <a:srgbClr val="10A37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11535" y="-274320"/>
            <a:ext cx="1828800" cy="1828800"/>
          </a:xfrm>
          <a:prstGeom prst="ellipse">
            <a:avLst/>
          </a:prstGeom>
          <a:solidFill>
            <a:srgbClr val="10A37F">
              <a:alpha val="20000"/>
            </a:srgbClr>
          </a:solidFill>
          <a:ln w="12700">
            <a:solidFill>
              <a:srgbClr val="10A37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02 · KONTEN 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109441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Social Media Creator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ALL AI.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640080" cy="6400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6344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sosmed manual: Rp 5–10 juta per platform per bulan. Lima platform berarti Rp 25–50 juta — dan output-nya masih bergantung mood freelancer. Sistem AI menggantikan tim itu dengan keluaran yang konsisten, terjadwal, dan jauh lebih murah.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ANGKA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Konten Bulanan: Tim Manual vs Konten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Asumsi 5 platform aktif (Instagram, TikTok, YouTube Shorts, Facebook, X) dengan output 3 variasi video per hari.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743200"/>
          <a:ext cx="11094415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 hingga Rp 40 juta per bulan — dengan output 3× lebih konsisten dan terjadwal 24/7.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8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64592" cy="678484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914400"/>
            <a:ext cx="3200400" cy="3200400"/>
          </a:xfrm>
          <a:prstGeom prst="ellipse">
            <a:avLst/>
          </a:prstGeom>
          <a:solidFill>
            <a:srgbClr val="10A37F">
              <a:alpha val="8000"/>
            </a:srgbClr>
          </a:solidFill>
          <a:ln w="12700">
            <a:solidFill>
              <a:srgbClr val="10A37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11535" y="-274320"/>
            <a:ext cx="1828800" cy="1828800"/>
          </a:xfrm>
          <a:prstGeom prst="ellipse">
            <a:avLst/>
          </a:prstGeom>
          <a:solidFill>
            <a:srgbClr val="10A37F">
              <a:alpha val="20000"/>
            </a:srgbClr>
          </a:solidFill>
          <a:ln w="12700">
            <a:solidFill>
              <a:srgbClr val="10A37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02 · MOD-CONTENT-AI · CUSTOM SCOPE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AI Otomatis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prompt → tiga variasi video → lima platform → terjadwal otomatis.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640080" cy="54864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6858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5 platform: Instagram, TikTok, YouTube Shorts, Facebook, 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video AI lewat Veo / Runway API — output siap publish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caption + hashtag yang disesuaikan tone Neofit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Kalender konten dengan scheduler otomatis 24/7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video terpusat — semua arsip dalam satu tempat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pilih satu variasi, sistem buat dua alternatif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18120" y="3108960"/>
            <a:ext cx="3824935" cy="2560320"/>
          </a:xfrm>
          <a:prstGeom prst="rect">
            <a:avLst/>
          </a:prstGeom>
          <a:solidFill>
            <a:srgbClr val="141B2E"/>
          </a:solidFill>
          <a:ln w="12700">
            <a:solidFill>
              <a:srgbClr val="141B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3108960"/>
            <a:ext cx="3824935" cy="10972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3383280"/>
            <a:ext cx="3184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C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INVESTASI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38160" y="3794760"/>
            <a:ext cx="3184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Pembangunan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38160" y="4069080"/>
            <a:ext cx="3184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50 – 90 juta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38160" y="4617720"/>
            <a:ext cx="3184855" cy="1828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4754880"/>
            <a:ext cx="3184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/ Bulan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0" y="5029200"/>
            <a:ext cx="3184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6 – 15 juta / bln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harga bergantung jumlah platform aktif &amp; kuota AI bulanan. Termasuk AI API, storage video, dan retraining tone.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0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411480" cy="4114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457200"/>
            <a:ext cx="50292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8000" b="1" dirty="0">
                <a:solidFill>
                  <a:srgbClr val="2563EB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0" dirty="0"/>
          </a:p>
        </p:txBody>
      </p:sp>
      <p:sp>
        <p:nvSpPr>
          <p:cNvPr id="3" name="Shape 1"/>
          <p:cNvSpPr/>
          <p:nvPr/>
        </p:nvSpPr>
        <p:spPr>
          <a:xfrm>
            <a:off x="10180015" y="-914400"/>
            <a:ext cx="3200400" cy="3200400"/>
          </a:xfrm>
          <a:prstGeom prst="ellipse">
            <a:avLst/>
          </a:prstGeom>
          <a:solidFill>
            <a:srgbClr val="10A37F">
              <a:alpha val="8000"/>
            </a:srgbClr>
          </a:solidFill>
          <a:ln w="12700">
            <a:solidFill>
              <a:srgbClr val="10A37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11535" y="-274320"/>
            <a:ext cx="1828800" cy="1828800"/>
          </a:xfrm>
          <a:prstGeom prst="ellipse">
            <a:avLst/>
          </a:prstGeom>
          <a:solidFill>
            <a:srgbClr val="10A37F">
              <a:alpha val="20000"/>
            </a:srgbClr>
          </a:solidFill>
          <a:ln w="12700">
            <a:solidFill>
              <a:srgbClr val="10A37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03 · LANDING PAGE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109441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yang tepat =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gratis 24 jam dari Google.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640080" cy="6400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6344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yang dikerjakan dengan benar mengubah Google menjadi sales rep yang tidak pernah tidur. Tanpa SEO, situs Neofit hanya pajangan — dengan SEO, ia menjadi mesin lead yang biaya per klik-nya nol Rupiah.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KEKUATAN SEO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SEO mengalahkan iklan berbayar — angka dari riset global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angka yang menjelaskan mengapa setiap Rupiah yang dipakai untuk SEO bekerja jauh lebih lama daripada iklan berbayar.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567864" cy="2743200"/>
          </a:xfrm>
          <a:prstGeom prst="rect">
            <a:avLst/>
          </a:prstGeom>
          <a:solidFill>
            <a:srgbClr val="F5F7FB"/>
          </a:solidFill>
          <a:ln w="6350">
            <a:solidFill>
              <a:srgbClr val="E2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834640"/>
            <a:ext cx="2567864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54680"/>
            <a:ext cx="22021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21106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web datang dari pencarian organik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983480"/>
            <a:ext cx="21106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BrightEdge Research.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90824" y="2834640"/>
            <a:ext cx="2567864" cy="2743200"/>
          </a:xfrm>
          <a:prstGeom prst="rect">
            <a:avLst/>
          </a:prstGeom>
          <a:solidFill>
            <a:srgbClr val="F5F7FB"/>
          </a:solidFill>
          <a:ln w="6350">
            <a:solidFill>
              <a:srgbClr val="E2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0824" y="2834640"/>
            <a:ext cx="2567864" cy="10972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3704" y="3154680"/>
            <a:ext cx="22021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619424" y="4343400"/>
            <a:ext cx="21106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tidak pernah scroll ke halaman 2 Google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9424" y="4983480"/>
            <a:ext cx="21106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HubSpot SEO Stats.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33008" y="2834640"/>
            <a:ext cx="2567864" cy="2743200"/>
          </a:xfrm>
          <a:prstGeom prst="rect">
            <a:avLst/>
          </a:prstGeom>
          <a:solidFill>
            <a:srgbClr val="F5F7FB"/>
          </a:solidFill>
          <a:ln w="6350">
            <a:solidFill>
              <a:srgbClr val="E2E6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3008" y="2834640"/>
            <a:ext cx="2567864" cy="109728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5888" y="3154680"/>
            <a:ext cx="22021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14,6%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461608" y="4343400"/>
            <a:ext cx="21106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SEO leads — 8× lebih tinggi dari iklan outbound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61608" y="4983480"/>
            <a:ext cx="21106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HigherVisibility.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75191" y="2834640"/>
            <a:ext cx="2567864" cy="2743200"/>
          </a:xfrm>
          <a:prstGeom prst="rect">
            <a:avLst/>
          </a:prstGeom>
          <a:solidFill>
            <a:srgbClr val="F5F7FB"/>
          </a:solidFill>
          <a:ln w="6350">
            <a:solidFill>
              <a:srgbClr val="E2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75191" y="2834640"/>
            <a:ext cx="2567864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58071" y="3154680"/>
            <a:ext cx="22021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0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9303791" y="4343400"/>
            <a:ext cx="21106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click traffic organik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03791" y="4983480"/>
            <a:ext cx="21106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Selamanya, 24 jam non-stop.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yang tepat = aset bisnis yang nilainya naik tiap bulan, bukan biaya iklan yang hilang setiap tagihan.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7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411480" cy="4114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64592" cy="6784848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914400"/>
            <a:ext cx="3200400" cy="3200400"/>
          </a:xfrm>
          <a:prstGeom prst="ellipse">
            <a:avLst/>
          </a:prstGeom>
          <a:solidFill>
            <a:srgbClr val="23304A">
              <a:alpha val="8000"/>
            </a:srgbClr>
          </a:solidFill>
          <a:ln w="12700">
            <a:solidFill>
              <a:srgbClr val="23304A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11535" y="-274320"/>
            <a:ext cx="1828800" cy="1828800"/>
          </a:xfrm>
          <a:prstGeom prst="ellipse">
            <a:avLst/>
          </a:prstGeom>
          <a:solidFill>
            <a:srgbClr val="23304A">
              <a:alpha val="20000"/>
            </a:srgbClr>
          </a:solidFill>
          <a:ln w="12700">
            <a:solidFill>
              <a:srgbClr val="23304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03 · MOD-LANDING-001 · FIXED PRICE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 (Static)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publik yang dioptimasi untuk Google — mengubah pencari menjadi sign-up.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640080" cy="54864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6858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halaman statis: home, daftar kelas, profil trainer, jadwal, harga, kontak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dasar: meta tags, structured data, sitemap, kecepatan optimal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signup terhubung langsung ke Admin Panel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WhatsApp Business — chat instan dari setiap halaman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terpasang untuk tracking funnel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konten via deploy cepat, tanpa CMS terpisah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18120" y="3108960"/>
            <a:ext cx="3824935" cy="2560320"/>
          </a:xfrm>
          <a:prstGeom prst="rect">
            <a:avLst/>
          </a:prstGeom>
          <a:solidFill>
            <a:srgbClr val="141B2E"/>
          </a:solidFill>
          <a:ln w="12700">
            <a:solidFill>
              <a:srgbClr val="141B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3108960"/>
            <a:ext cx="3824935" cy="109728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3383280"/>
            <a:ext cx="3184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C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INVESTASI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38160" y="3794760"/>
            <a:ext cx="3184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Pembangunan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38160" y="4069080"/>
            <a:ext cx="3184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12.000.000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38160" y="4617720"/>
            <a:ext cx="3184855" cy="18288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4754880"/>
            <a:ext cx="3184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/ Bulan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0" y="5029200"/>
            <a:ext cx="3184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1.000.000 / bln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HEMAT: Bundle Admin + Landing — Rp 42.000.000 (hemat Rp 5.000.000) + Rp 3.000.000/bln (hemat Rp 500.000/bln).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0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411480" cy="4114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Lanjutan untuk Skala Berikutnya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tiga pilar utama berjalan, dua modul ini menjaga retensi member.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42234" y="2743200"/>
            <a:ext cx="5707228" cy="0"/>
          </a:xfrm>
          <a:prstGeom prst="line">
            <a:avLst/>
          </a:prstGeom>
          <a:noFill/>
          <a:ln w="19050">
            <a:solidFill>
              <a:srgbClr val="E2E6E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2743200"/>
            <a:ext cx="538718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43200"/>
            <a:ext cx="91440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21026" y="2221992"/>
            <a:ext cx="1042416" cy="1042416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0754" y="233172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0754" y="23500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46556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 AI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967914" y="4343400"/>
            <a:ext cx="5486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480560"/>
            <a:ext cx="46556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Dengar suara member dari Google Maps, Instagram DM, WhatsApp, survei in-app, dan TikTok. NLP otomatis menemukan tema keluhan + draf balasan. Rp 40–70jt + Rp 4–8jt/bln.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5868" y="2743200"/>
            <a:ext cx="538718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5868" y="2743200"/>
            <a:ext cx="91440" cy="320040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8253" y="2221992"/>
            <a:ext cx="1042416" cy="1042416"/>
          </a:xfrm>
          <a:prstGeom prst="ellipse">
            <a:avLst/>
          </a:prstGeom>
          <a:solidFill>
            <a:srgbClr val="10A37F">
              <a:alpha val="20000"/>
            </a:srgbClr>
          </a:solidFill>
          <a:ln w="12700">
            <a:solidFill>
              <a:srgbClr val="10A37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7981" y="2331720"/>
            <a:ext cx="822960" cy="822960"/>
          </a:xfrm>
          <a:prstGeom prst="ellipse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37981" y="23500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621628" y="3520440"/>
            <a:ext cx="46556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Churn AI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675141" y="4343400"/>
            <a:ext cx="548640" cy="0"/>
          </a:xfrm>
          <a:prstGeom prst="line">
            <a:avLst/>
          </a:prstGeom>
          <a:noFill/>
          <a:ln w="19050">
            <a:solidFill>
              <a:srgbClr val="10A3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1628" y="4480560"/>
            <a:ext cx="46556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risiko churn per member dengan ML. WhatsApp Re-Engagement Engine kirim kampanye personalisasi sebelum member cancel. Rp 45–75jt + Rp 5–10jt/bln.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2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411480" cy="4114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Investasi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pengerjaan bertahap — tiap fase memberi dampak terukur sebelum lanjut ke fase berikutnya.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6446520"/>
            <a:ext cx="10728655" cy="36576"/>
          </a:xfrm>
          <a:prstGeom prst="rect">
            <a:avLst/>
          </a:prstGeom>
          <a:solidFill>
            <a:srgbClr val="E2E6EE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11781" y="6355080"/>
            <a:ext cx="219456" cy="21945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108960"/>
            <a:ext cx="354573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108960"/>
            <a:ext cx="3545738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0040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 ·  Bulan 1 –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29970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Data &amp; Kehadiran Digital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299709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(CMS) — dashboard KPI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 dengan SEO dasar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WhatsApp &amp; Google Analytics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Migrasi data member existing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5623560"/>
            <a:ext cx="3545738" cy="59436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715000"/>
            <a:ext cx="29970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42.000.000  (Paket Hemat)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6120" y="6355080"/>
            <a:ext cx="219456" cy="219456"/>
          </a:xfrm>
          <a:prstGeom prst="ellipse">
            <a:avLst/>
          </a:prstGeom>
          <a:solidFill>
            <a:srgbClr val="10A37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2978" y="3108960"/>
            <a:ext cx="354573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22978" y="3108960"/>
            <a:ext cx="3545738" cy="5486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7298" y="320040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 ·  Bulan 3 –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97298" y="3840480"/>
            <a:ext cx="29970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Otomasi Konten AI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97298" y="4434840"/>
            <a:ext cx="299709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AI Otomatis multi-platform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generator + scheduler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&amp; brand training untuk Neofit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performa konten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22978" y="5623560"/>
            <a:ext cx="3545738" cy="59436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7298" y="5715000"/>
            <a:ext cx="29970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50 – 90 juta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60458" y="6355080"/>
            <a:ext cx="219456" cy="219456"/>
          </a:xfrm>
          <a:prstGeom prst="ellipse">
            <a:avLst/>
          </a:prstGeom>
          <a:solidFill>
            <a:srgbClr val="2330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7317" y="3108960"/>
            <a:ext cx="354573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7317" y="3108960"/>
            <a:ext cx="3545738" cy="548640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1637" y="320040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 ·  Bulan 5+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71637" y="3840480"/>
            <a:ext cx="29970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Retensi &amp; Intelligence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71637" y="4434840"/>
            <a:ext cx="299709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 AI dari 5 sumber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Churn AI + WhatsApp engine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Kampanye otomatis personalisasi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E7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generator mingguan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97317" y="5623560"/>
            <a:ext cx="3545738" cy="59436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71637" y="5715000"/>
            <a:ext cx="29970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85 – 145 juta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0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411480" cy="4114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960120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0820095" y="2926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 · AI Transformation Company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8495" y="4114800"/>
            <a:ext cx="4572000" cy="4572000"/>
          </a:xfrm>
          <a:prstGeom prst="ellipse">
            <a:avLst/>
          </a:prstGeom>
          <a:solidFill>
            <a:srgbClr val="10A37F">
              <a:alpha val="15000"/>
            </a:srgbClr>
          </a:solidFill>
          <a:ln w="12700">
            <a:solidFill>
              <a:srgbClr val="10A37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01168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 Bertumbuh Bersama.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5730088" y="3520440"/>
            <a:ext cx="7315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7490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memulai transformasi AI untuk Neofit? Tim OpenCraft siap menemani setiap fase.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opencraft.dev@gmail.com    ·    (+62) 851 5641 3628    ·    opencraft-landing.netlify.app</a:t>
            </a:r>
            <a:endParaRPr lang="en-US" sz="1300" dirty="0"/>
          </a:p>
        </p:txBody>
      </p:sp>
      <p:pic>
        <p:nvPicPr>
          <p:cNvPr id="9" name="Image 0" descr="/Users/muhammadrayandika/repo/document-agent/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539496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OpenCraft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5943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C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COMPANY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OpenCraft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 Pertumbuhan Digital
Neofit Webapp</dc:title>
  <dc:subject>PptxGenJS Presentation</dc:subject>
  <dc:creator>OpenCraft</dc:creator>
  <cp:lastModifiedBy>OpenCraft</cp:lastModifiedBy>
  <cp:revision>1</cp:revision>
  <dcterms:created xsi:type="dcterms:W3CDTF">2026-05-13T14:34:44Z</dcterms:created>
  <dcterms:modified xsi:type="dcterms:W3CDTF">2026-05-13T14:34:44Z</dcterms:modified>
</cp:coreProperties>
</file>